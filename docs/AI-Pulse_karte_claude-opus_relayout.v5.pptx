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48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6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62399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672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816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7056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24799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8392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3632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2776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5824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3048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9144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21336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27432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33528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0" y="3962399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0" y="51816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0" y="57912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0" y="64008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0" y="67056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381000" y="381000"/>
            <a:ext cx="3810000" cy="6096000"/>
          </a:xfrm>
          <a:prstGeom prst="rect">
            <a:avLst/>
          </a:prstGeom>
          <a:solidFill>
            <a:srgbClr val="191B1D"/>
          </a:solidFill>
          <a:ln w="10160">
            <a:solidFill>
              <a:srgbClr val="2C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6900" y="444500"/>
            <a:ext cx="31750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27479"/>
                </a:solidFill>
                <a:latin typeface="Meiryo UI"/>
              </a:rPr>
              <a:t>サービスカルテ / ENTITY KARTE · ◆ モデル / LLM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6900" y="635000"/>
            <a:ext cx="1651000" cy="228600"/>
          </a:xfrm>
          <a:prstGeom prst="rect">
            <a:avLst/>
          </a:prstGeom>
          <a:solidFill>
            <a:srgbClr val="242629"/>
          </a:solidFill>
          <a:ln w="10160">
            <a:solidFill>
              <a:srgbClr val="2C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7700" y="704850"/>
            <a:ext cx="457200" cy="88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727479"/>
                </a:solidFill>
                <a:latin typeface="Meiryo UI"/>
              </a:rPr>
              <a:t>提供形態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30300" y="685800"/>
            <a:ext cx="1079500" cy="120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AACB1"/>
                </a:solidFill>
                <a:latin typeface="Meiryo UI"/>
              </a:rPr>
              <a:t>商用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324100" y="635000"/>
            <a:ext cx="1651000" cy="228600"/>
          </a:xfrm>
          <a:prstGeom prst="rect">
            <a:avLst/>
          </a:prstGeom>
          <a:solidFill>
            <a:srgbClr val="242629"/>
          </a:solidFill>
          <a:ln w="10160">
            <a:solidFill>
              <a:srgbClr val="2C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374900" y="704850"/>
            <a:ext cx="457200" cy="88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727479"/>
                </a:solidFill>
                <a:latin typeface="Meiryo UI"/>
              </a:rPr>
              <a:t>開発元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57500" y="685800"/>
            <a:ext cx="1079500" cy="120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AACB1"/>
                </a:solidFill>
                <a:latin typeface="Meiryo UI"/>
              </a:rPr>
              <a:t>Anthropic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6900" y="977900"/>
            <a:ext cx="546100" cy="546100"/>
          </a:xfrm>
          <a:prstGeom prst="rect">
            <a:avLst/>
          </a:prstGeom>
          <a:solidFill>
            <a:srgbClr val="242629"/>
          </a:solidFill>
          <a:ln w="10160">
            <a:solidFill>
              <a:srgbClr val="2C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96900" y="1163574"/>
            <a:ext cx="546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5B64"/>
                </a:solidFill>
                <a:latin typeface="Meiryo UI"/>
              </a:rPr>
              <a:t>LOGO
差し替え枠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57300" y="914400"/>
            <a:ext cx="27178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EEEFF1"/>
                </a:solidFill>
                <a:latin typeface="HGP明朝E"/>
              </a:rPr>
              <a:t>Claude Opus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8100" y="1435100"/>
            <a:ext cx="2667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AAACB1"/>
                </a:solidFill>
                <a:latin typeface="Meiryo UI"/>
              </a:rPr>
              <a:t>Anthropic · モデル / LLM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6900" y="1841500"/>
            <a:ext cx="337820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80" b="1">
                <a:solidFill>
                  <a:srgbClr val="EEEFF1"/>
                </a:solidFill>
                <a:latin typeface="HGP明朝E"/>
              </a:rPr>
              <a:t>「Anthropic の最上位 LLM。長文脈と高品質推論を強みにする」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96900" y="2349500"/>
            <a:ext cx="3378200" cy="0"/>
          </a:xfrm>
          <a:prstGeom prst="line">
            <a:avLst/>
          </a:prstGeom>
          <a:ln w="10160">
            <a:solidFill>
              <a:srgbClr val="2C2E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96900" y="2514600"/>
            <a:ext cx="10160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0ADFE"/>
                </a:solidFill>
                <a:latin typeface="Meiryo UI"/>
              </a:rPr>
              <a:t>概要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6900" y="2717800"/>
            <a:ext cx="3378200" cy="1130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260" b="0">
                <a:solidFill>
                  <a:srgbClr val="AAACB1"/>
                </a:solidFill>
                <a:latin typeface="HGP明朝E"/>
              </a:rPr>
              <a:t>Anthropic の Claude シリーズ最上位モデル。Opus 4.8 で 1M トークン文脈対応（標準価格）を実現し、長大なコードベースや文書を一括処理できる。エージェントワークフローでは数百の並列サブエージェントをダイナミックに制御し、反復的な開発タスクを自動化する。価格は世代ごとに低下トレンドにあり、高品質推論とコストパフォーマンスが両立しつつある。API 従量課金と Claude Max 定額の両方から利用可能。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96900" y="4660900"/>
            <a:ext cx="3378200" cy="0"/>
          </a:xfrm>
          <a:prstGeom prst="line">
            <a:avLst/>
          </a:prstGeom>
          <a:ln w="10160">
            <a:solidFill>
              <a:srgbClr val="2C2E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96900" y="4826000"/>
            <a:ext cx="7620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27479"/>
                </a:solidFill>
                <a:latin typeface="Meiryo UI"/>
              </a:rPr>
              <a:t>確信度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75000" y="4775200"/>
            <a:ext cx="800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2400" b="1">
                <a:solidFill>
                  <a:srgbClr val="66DC9E"/>
                </a:solidFill>
                <a:latin typeface="Meiryo UI"/>
              </a:rPr>
              <a:t>67%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6900" y="5016500"/>
            <a:ext cx="11430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6DC9E"/>
                </a:solidFill>
                <a:latin typeface="Meiryo UI"/>
              </a:rPr>
              <a:t>検証済 / VERIFIED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6900" y="5168900"/>
            <a:ext cx="3378200" cy="50800"/>
          </a:xfrm>
          <a:prstGeom prst="rect">
            <a:avLst/>
          </a:prstGeom>
          <a:solidFill>
            <a:srgbClr val="242629"/>
          </a:solidFill>
          <a:ln w="10160">
            <a:solidFill>
              <a:srgbClr val="2C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96900" y="5168900"/>
            <a:ext cx="2263394" cy="50800"/>
          </a:xfrm>
          <a:prstGeom prst="rect">
            <a:avLst/>
          </a:prstGeom>
          <a:solidFill>
            <a:srgbClr val="66DC9E"/>
          </a:solidFill>
          <a:ln w="10160">
            <a:solidFill>
              <a:srgbClr val="66D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596900" y="5384800"/>
            <a:ext cx="3378200" cy="0"/>
          </a:xfrm>
          <a:prstGeom prst="line">
            <a:avLst/>
          </a:prstGeom>
          <a:ln w="10160">
            <a:solidFill>
              <a:srgbClr val="2C2E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96900" y="5549900"/>
            <a:ext cx="15240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27479"/>
                </a:solidFill>
                <a:latin typeface="Meiryo UI"/>
              </a:rPr>
              <a:t>採用判断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6900" y="5765800"/>
            <a:ext cx="11430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AAACB1"/>
                </a:solidFill>
                <a:latin typeface="Meiryo UI"/>
              </a:rPr>
              <a:t>個人開発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65300" y="5746750"/>
            <a:ext cx="2921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800" b="1">
                <a:solidFill>
                  <a:srgbClr val="66DC9E"/>
                </a:solidFill>
                <a:latin typeface="Meiryo UI"/>
              </a:rPr>
              <a:t>◎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6900" y="5962650"/>
            <a:ext cx="11430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AAACB1"/>
                </a:solidFill>
                <a:latin typeface="Meiryo UI"/>
              </a:rPr>
              <a:t>業務(小規模)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765300" y="5943600"/>
            <a:ext cx="2921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800" b="1">
                <a:solidFill>
                  <a:srgbClr val="66DC9E"/>
                </a:solidFill>
                <a:latin typeface="Meiryo UI"/>
              </a:rPr>
              <a:t>◎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6900" y="6159500"/>
            <a:ext cx="11430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AAACB1"/>
                </a:solidFill>
                <a:latin typeface="Meiryo UI"/>
              </a:rPr>
              <a:t>クライアント提案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765300" y="6140450"/>
            <a:ext cx="2921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800" b="1">
                <a:solidFill>
                  <a:srgbClr val="70ADFE"/>
                </a:solidFill>
                <a:latin typeface="Meiryo UI"/>
              </a:rPr>
              <a:t>○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438400" y="5549900"/>
            <a:ext cx="13970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27479"/>
                </a:solidFill>
                <a:latin typeface="Meiryo UI"/>
              </a:rPr>
              <a:t>出典ティア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438400" y="5765800"/>
            <a:ext cx="2159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27479"/>
                </a:solidFill>
                <a:latin typeface="Meiryo UI"/>
              </a:rPr>
              <a:t>T3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17800" y="5765800"/>
            <a:ext cx="10922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AACB1"/>
                </a:solidFill>
                <a:latin typeface="Meiryo UI"/>
              </a:rPr>
              <a:t>Decrypt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438400" y="5924550"/>
            <a:ext cx="2159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27479"/>
                </a:solidFill>
                <a:latin typeface="Meiryo UI"/>
              </a:rPr>
              <a:t>T3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17800" y="5924550"/>
            <a:ext cx="10922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AACB1"/>
                </a:solidFill>
                <a:latin typeface="Meiryo UI"/>
              </a:rPr>
              <a:t>CybersecurityNews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438400" y="6083300"/>
            <a:ext cx="2159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DC9E"/>
                </a:solidFill>
                <a:latin typeface="Meiryo UI"/>
              </a:rPr>
              <a:t>T1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717800" y="6083300"/>
            <a:ext cx="10922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AACB1"/>
                </a:solidFill>
                <a:latin typeface="Meiryo UI"/>
              </a:rPr>
              <a:t>AnthropicAI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438400" y="6242050"/>
            <a:ext cx="2159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27479"/>
                </a:solidFill>
                <a:latin typeface="Meiryo UI"/>
              </a:rPr>
              <a:t>T3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717800" y="6242050"/>
            <a:ext cx="10922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AACB1"/>
                </a:solidFill>
                <a:latin typeface="Meiryo UI"/>
              </a:rPr>
              <a:t>Cybernews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406900" y="381000"/>
            <a:ext cx="7404099" cy="1905000"/>
          </a:xfrm>
          <a:prstGeom prst="rect">
            <a:avLst/>
          </a:prstGeom>
          <a:solidFill>
            <a:srgbClr val="191B1D"/>
          </a:solidFill>
          <a:ln w="10160">
            <a:solidFill>
              <a:srgbClr val="2C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59300" y="520700"/>
            <a:ext cx="19050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0ADFE"/>
                </a:solidFill>
                <a:latin typeface="Meiryo UI"/>
              </a:rPr>
              <a:t>テクニカル・ヒストリー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160000" y="520700"/>
            <a:ext cx="14605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27479"/>
                </a:solidFill>
                <a:latin typeface="Meiryo UI"/>
              </a:rPr>
              <a:t>直近 5 件 / 新しい順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59300" y="812800"/>
            <a:ext cx="1348740" cy="1320800"/>
          </a:xfrm>
          <a:prstGeom prst="rect">
            <a:avLst/>
          </a:prstGeom>
          <a:solidFill>
            <a:srgbClr val="242629"/>
          </a:solidFill>
          <a:ln w="10160">
            <a:solidFill>
              <a:srgbClr val="212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635500" y="895350"/>
            <a:ext cx="5207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AACB1"/>
                </a:solidFill>
                <a:latin typeface="Meiryo UI"/>
              </a:rPr>
              <a:t>2026.05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565140" y="895350"/>
            <a:ext cx="254000" cy="10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66DC9E"/>
                </a:solidFill>
                <a:latin typeface="Meiryo UI"/>
              </a:rPr>
              <a:t>最新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635500" y="1085850"/>
            <a:ext cx="119634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>
                <a:solidFill>
                  <a:srgbClr val="EEEFF1"/>
                </a:solidFill>
                <a:latin typeface="HGP明朝E"/>
              </a:rPr>
              <a:t>Opus 4.8 公開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635500" y="1397000"/>
            <a:ext cx="11963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880" b="0">
                <a:solidFill>
                  <a:srgbClr val="AAACB1"/>
                </a:solidFill>
                <a:latin typeface="Meiryo UI"/>
              </a:rPr>
              <a:t>努力レベル制御・動的ワークフロー（数百の並列サブエージェント）を追加し、高速モードを前モデル比で約3倍安価化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35500" y="1968500"/>
            <a:ext cx="1196340" cy="10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55B64"/>
                </a:solidFill>
                <a:latin typeface="Meiryo UI"/>
              </a:rPr>
              <a:t>Anthropic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996940" y="812800"/>
            <a:ext cx="1348740" cy="1320800"/>
          </a:xfrm>
          <a:prstGeom prst="rect">
            <a:avLst/>
          </a:prstGeom>
          <a:solidFill>
            <a:srgbClr val="242629"/>
          </a:solidFill>
          <a:ln w="10160">
            <a:solidFill>
              <a:srgbClr val="212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073140" y="895350"/>
            <a:ext cx="5207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AACB1"/>
                </a:solidFill>
                <a:latin typeface="Meiryo UI"/>
              </a:rPr>
              <a:t>2026.04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073140" y="1085850"/>
            <a:ext cx="119634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>
                <a:solidFill>
                  <a:srgbClr val="EEEFF1"/>
                </a:solidFill>
                <a:latin typeface="HGP明朝E"/>
              </a:rPr>
              <a:t>Opus 4.7 公開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073140" y="1397000"/>
            <a:ext cx="11963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880" b="0">
                <a:solidFill>
                  <a:srgbClr val="AAACB1"/>
                </a:solidFill>
                <a:latin typeface="Meiryo UI"/>
              </a:rPr>
              <a:t>Design を導入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073140" y="1968500"/>
            <a:ext cx="1196340" cy="10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55B64"/>
                </a:solidFill>
                <a:latin typeface="Meiryo UI"/>
              </a:rPr>
              <a:t>Anthropic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434579" y="812800"/>
            <a:ext cx="1348740" cy="1320800"/>
          </a:xfrm>
          <a:prstGeom prst="rect">
            <a:avLst/>
          </a:prstGeom>
          <a:solidFill>
            <a:srgbClr val="242629"/>
          </a:solidFill>
          <a:ln w="10160">
            <a:solidFill>
              <a:srgbClr val="212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510780" y="895350"/>
            <a:ext cx="5207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AACB1"/>
                </a:solidFill>
                <a:latin typeface="Meiryo UI"/>
              </a:rPr>
              <a:t>2026.02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510780" y="1085850"/>
            <a:ext cx="119634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>
                <a:solidFill>
                  <a:srgbClr val="EEEFF1"/>
                </a:solidFill>
                <a:latin typeface="HGP明朝E"/>
              </a:rPr>
              <a:t>Opus 4.6 公開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510780" y="1397000"/>
            <a:ext cx="11963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880" b="0">
                <a:solidFill>
                  <a:srgbClr val="AAACB1"/>
                </a:solidFill>
                <a:latin typeface="Meiryo UI"/>
              </a:rPr>
              <a:t>100万トークン文脈（beta）・エージェントチーム・PowerPoint 統合を追加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510780" y="1968500"/>
            <a:ext cx="1196340" cy="10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55B64"/>
                </a:solidFill>
                <a:latin typeface="Meiryo UI"/>
              </a:rPr>
              <a:t>Anthropic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872220" y="812800"/>
            <a:ext cx="1348740" cy="1320800"/>
          </a:xfrm>
          <a:prstGeom prst="rect">
            <a:avLst/>
          </a:prstGeom>
          <a:solidFill>
            <a:srgbClr val="242629"/>
          </a:solidFill>
          <a:ln w="10160">
            <a:solidFill>
              <a:srgbClr val="212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948420" y="895350"/>
            <a:ext cx="5207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AACB1"/>
                </a:solidFill>
                <a:latin typeface="Meiryo UI"/>
              </a:rPr>
              <a:t>2025.11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948420" y="1085850"/>
            <a:ext cx="119634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>
                <a:solidFill>
                  <a:srgbClr val="EEEFF1"/>
                </a:solidFill>
                <a:latin typeface="HGP明朝E"/>
              </a:rPr>
              <a:t>Opus 4.5 公開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948420" y="1397000"/>
            <a:ext cx="11963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880" b="0">
                <a:solidFill>
                  <a:srgbClr val="AAACB1"/>
                </a:solidFill>
                <a:latin typeface="Meiryo UI"/>
              </a:rPr>
              <a:t>コーディングと業務タスクを向上、長い対話を保つ Infinite Chats を追加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948420" y="1968500"/>
            <a:ext cx="1196340" cy="10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55B64"/>
                </a:solidFill>
                <a:latin typeface="Meiryo UI"/>
              </a:rPr>
              <a:t>Anthropic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309859" y="812800"/>
            <a:ext cx="1348740" cy="1320800"/>
          </a:xfrm>
          <a:prstGeom prst="rect">
            <a:avLst/>
          </a:prstGeom>
          <a:solidFill>
            <a:srgbClr val="242629"/>
          </a:solidFill>
          <a:ln w="10160">
            <a:solidFill>
              <a:srgbClr val="212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386060" y="895350"/>
            <a:ext cx="5207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AACB1"/>
                </a:solidFill>
                <a:latin typeface="Meiryo UI"/>
              </a:rPr>
              <a:t>2025.08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386060" y="1085850"/>
            <a:ext cx="119634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>
                <a:solidFill>
                  <a:srgbClr val="EEEFF1"/>
                </a:solidFill>
                <a:latin typeface="HGP明朝E"/>
              </a:rPr>
              <a:t>Opus 4.1 公開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386060" y="1397000"/>
            <a:ext cx="11963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880" b="0">
                <a:solidFill>
                  <a:srgbClr val="AAACB1"/>
                </a:solidFill>
                <a:latin typeface="Meiryo UI"/>
              </a:rPr>
              <a:t>有害・濫用的な会話を終了する機能などを追加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386060" y="1968500"/>
            <a:ext cx="1196340" cy="10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55B64"/>
                </a:solidFill>
                <a:latin typeface="Meiryo UI"/>
              </a:rPr>
              <a:t>Anthropic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406900" y="2463800"/>
            <a:ext cx="7404099" cy="4013200"/>
          </a:xfrm>
          <a:prstGeom prst="rect">
            <a:avLst/>
          </a:prstGeom>
          <a:solidFill>
            <a:srgbClr val="191B1D"/>
          </a:solidFill>
          <a:ln w="10160">
            <a:solidFill>
              <a:srgbClr val="2C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59300" y="2603500"/>
            <a:ext cx="11430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0ADFE"/>
                </a:solidFill>
                <a:latin typeface="Meiryo UI"/>
              </a:rPr>
              <a:t>競合比較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731500" y="2603500"/>
            <a:ext cx="889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27479"/>
                </a:solidFill>
                <a:latin typeface="Meiryo UI"/>
              </a:rPr>
              <a:t>同レンズ 3 製品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59300" y="2908300"/>
            <a:ext cx="11176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727479"/>
                </a:solidFill>
                <a:latin typeface="Meiryo UI"/>
              </a:rPr>
              <a:t>比較軸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803900" y="2908300"/>
            <a:ext cx="17653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EEEFF1"/>
                </a:solidFill>
                <a:latin typeface="Meiryo UI"/>
              </a:rPr>
              <a:t>Claude Opus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708900" y="2908300"/>
            <a:ext cx="17653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EEEFF1"/>
                </a:solidFill>
                <a:latin typeface="Meiryo UI"/>
              </a:rPr>
              <a:t>GPT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613900" y="2908300"/>
            <a:ext cx="2044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EEEFF1"/>
                </a:solidFill>
                <a:latin typeface="Meiryo UI"/>
              </a:rPr>
              <a:t>Gemini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4559300" y="3098800"/>
            <a:ext cx="7099300" cy="0"/>
          </a:xfrm>
          <a:prstGeom prst="line">
            <a:avLst/>
          </a:prstGeom>
          <a:ln w="10160">
            <a:solidFill>
              <a:srgbClr val="2C2E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4559300" y="3149600"/>
            <a:ext cx="11176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727479"/>
                </a:solidFill>
                <a:latin typeface="Meiryo UI"/>
              </a:rPr>
              <a:t>主な強み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803900" y="3149600"/>
            <a:ext cx="16891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40" b="1">
                <a:solidFill>
                  <a:srgbClr val="66DC9E"/>
                </a:solidFill>
                <a:latin typeface="Meiryo UI"/>
              </a:rPr>
              <a:t>長文脈・高品質推論 / コーディング/エージェントに強い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708900" y="3149600"/>
            <a:ext cx="16891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40" b="0">
                <a:solidFill>
                  <a:srgbClr val="AAACB1"/>
                </a:solidFill>
                <a:latin typeface="Meiryo UI"/>
              </a:rPr>
              <a:t>汎用性・普及度 / GPTs・広範な統合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613900" y="3149600"/>
            <a:ext cx="1968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40" b="0">
                <a:solidFill>
                  <a:srgbClr val="AAACB1"/>
                </a:solidFill>
                <a:latin typeface="Meiryo UI"/>
              </a:rPr>
              <a:t>超長文脈（最大2M） / Google・Workspace 連携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4559300" y="3644900"/>
            <a:ext cx="7099300" cy="0"/>
          </a:xfrm>
          <a:prstGeom prst="line">
            <a:avLst/>
          </a:prstGeom>
          <a:ln w="10160">
            <a:solidFill>
              <a:srgbClr val="2C2E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4559300" y="3695700"/>
            <a:ext cx="11176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727479"/>
                </a:solidFill>
                <a:latin typeface="Meiryo UI"/>
              </a:rPr>
              <a:t>コンテキスト長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803900" y="3695700"/>
            <a:ext cx="16891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40" b="1">
                <a:solidFill>
                  <a:srgbClr val="66DC9E"/>
                </a:solidFill>
                <a:latin typeface="Meiryo UI"/>
              </a:rPr>
              <a:t>Opus 4.8: 1M / Sonnet 4.6: 1M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708900" y="3695700"/>
            <a:ext cx="16891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40" b="0">
                <a:solidFill>
                  <a:srgbClr val="AAACB1"/>
                </a:solidFill>
                <a:latin typeface="Meiryo UI"/>
              </a:rPr>
              <a:t>GPT-5.5: 約1M / GPT-5.4: 約1.1M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613900" y="3695700"/>
            <a:ext cx="1968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40" b="0">
                <a:solidFill>
                  <a:srgbClr val="AAACB1"/>
                </a:solidFill>
                <a:latin typeface="Meiryo UI"/>
              </a:rPr>
              <a:t>3.1 Pro: 2M / Flash 系: 1M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4559300" y="4190999"/>
            <a:ext cx="7099300" cy="0"/>
          </a:xfrm>
          <a:prstGeom prst="line">
            <a:avLst/>
          </a:prstGeom>
          <a:ln w="10160">
            <a:solidFill>
              <a:srgbClr val="2C2E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4559300" y="4241800"/>
            <a:ext cx="11176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727479"/>
                </a:solidFill>
                <a:latin typeface="Meiryo UI"/>
              </a:rPr>
              <a:t>マルチモーダル(入力)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803900" y="4241800"/>
            <a:ext cx="16891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40" b="1">
                <a:solidFill>
                  <a:srgbClr val="66DC9E"/>
                </a:solidFill>
                <a:latin typeface="Meiryo UI"/>
              </a:rPr>
              <a:t>○ テキスト・画像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708900" y="4241800"/>
            <a:ext cx="16891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40" b="0">
                <a:solidFill>
                  <a:srgbClr val="AAACB1"/>
                </a:solidFill>
                <a:latin typeface="Meiryo UI"/>
              </a:rPr>
              <a:t>◎ テキスト・画像・音声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613900" y="4241800"/>
            <a:ext cx="1968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40" b="0">
                <a:solidFill>
                  <a:srgbClr val="AAACB1"/>
                </a:solidFill>
                <a:latin typeface="Meiryo UI"/>
              </a:rPr>
              <a:t>◎ テキスト・画像・音声・動画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4559300" y="4737100"/>
            <a:ext cx="7099300" cy="0"/>
          </a:xfrm>
          <a:prstGeom prst="line">
            <a:avLst/>
          </a:prstGeom>
          <a:ln w="10160">
            <a:solidFill>
              <a:srgbClr val="2C2E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4559300" y="4787900"/>
            <a:ext cx="11176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727479"/>
                </a:solidFill>
                <a:latin typeface="Meiryo UI"/>
              </a:rPr>
              <a:t>マルチモーダル(出力)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803900" y="4787900"/>
            <a:ext cx="16891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40" b="1">
                <a:solidFill>
                  <a:srgbClr val="66DC9E"/>
                </a:solidFill>
                <a:latin typeface="Meiryo UI"/>
              </a:rPr>
              <a:t>× テキストのみ（画像/音声の生成なし）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708900" y="4787900"/>
            <a:ext cx="16891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40" b="0">
                <a:solidFill>
                  <a:srgbClr val="AAACB1"/>
                </a:solidFill>
                <a:latin typeface="Meiryo UI"/>
              </a:rPr>
              <a:t>○ 主力はテキスト／画像は専用(GPT Image系)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613900" y="4787900"/>
            <a:ext cx="1968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40" b="0">
                <a:solidFill>
                  <a:srgbClr val="AAACB1"/>
                </a:solidFill>
                <a:latin typeface="Meiryo UI"/>
              </a:rPr>
              <a:t>◎ 主力はテキスト／画像は専用(Gemini Image系)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4559300" y="5283200"/>
            <a:ext cx="7099300" cy="0"/>
          </a:xfrm>
          <a:prstGeom prst="line">
            <a:avLst/>
          </a:prstGeom>
          <a:ln w="10160">
            <a:solidFill>
              <a:srgbClr val="2C2E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4559300" y="5334000"/>
            <a:ext cx="11176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727479"/>
                </a:solidFill>
                <a:latin typeface="Meiryo UI"/>
              </a:rPr>
              <a:t>拡張・連携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803900" y="5334000"/>
            <a:ext cx="16891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40" b="1">
                <a:solidFill>
                  <a:srgbClr val="66DC9E"/>
                </a:solidFill>
                <a:latin typeface="Meiryo UI"/>
              </a:rPr>
              <a:t>◎ API・MCP 標準対応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708900" y="5334000"/>
            <a:ext cx="16891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40" b="0">
                <a:solidFill>
                  <a:srgbClr val="AAACB1"/>
                </a:solidFill>
                <a:latin typeface="Meiryo UI"/>
              </a:rPr>
              <a:t>◎ API・GPTs・広範な統合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613900" y="5334000"/>
            <a:ext cx="1968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40" b="0">
                <a:solidFill>
                  <a:srgbClr val="AAACB1"/>
                </a:solidFill>
                <a:latin typeface="Meiryo UI"/>
              </a:rPr>
              <a:t>○ API・Workspace・Vertex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4559300" y="5829300"/>
            <a:ext cx="7099300" cy="0"/>
          </a:xfrm>
          <a:prstGeom prst="line">
            <a:avLst/>
          </a:prstGeom>
          <a:ln w="10160">
            <a:solidFill>
              <a:srgbClr val="2C2E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4559300" y="5880100"/>
            <a:ext cx="11176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727479"/>
                </a:solidFill>
                <a:latin typeface="Meiryo UI"/>
              </a:rPr>
              <a:t>価格(API/サービス)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803900" y="5880100"/>
            <a:ext cx="16891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40" b="1">
                <a:solidFill>
                  <a:srgbClr val="66DC9E"/>
                </a:solidFill>
                <a:latin typeface="Meiryo UI"/>
              </a:rPr>
              <a:t>Opus 4.8: $5/$25 / Sonnet 4.6: $3/$15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708900" y="5880100"/>
            <a:ext cx="16891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40" b="0">
                <a:solidFill>
                  <a:srgbClr val="AAACB1"/>
                </a:solidFill>
                <a:latin typeface="Meiryo UI"/>
              </a:rPr>
              <a:t>GPT-5.5: $5/$30 / GPT-5.4: $2.5/$15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613900" y="5880100"/>
            <a:ext cx="1968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40" b="0">
                <a:solidFill>
                  <a:srgbClr val="AAACB1"/>
                </a:solidFill>
                <a:latin typeface="Meiryo UI"/>
              </a:rPr>
              <a:t>3.1 Pro: $2/$12〜 / 3.5 Flash: $1.5/$9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48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6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62399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672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816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7056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24799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8392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3632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2776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5824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3048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9144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21336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27432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33528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0" y="3962399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0" y="51816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0" y="57912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0" y="64008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0" y="6705600"/>
            <a:ext cx="12192000" cy="0"/>
          </a:xfrm>
          <a:prstGeom prst="line">
            <a:avLst/>
          </a:prstGeom>
          <a:ln w="3175">
            <a:solidFill>
              <a:srgbClr val="212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381000" y="393700"/>
            <a:ext cx="54610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27479"/>
                </a:solidFill>
                <a:latin typeface="Meiryo UI"/>
              </a:rPr>
              <a:t>サービスカルテ / ENTITY KARTE · CLAUDE OPUS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1000" y="520700"/>
            <a:ext cx="39370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EEEFF1"/>
                </a:solidFill>
                <a:latin typeface="HGP明朝E"/>
              </a:rPr>
              <a:t>関係・シナリオ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226800" y="381000"/>
            <a:ext cx="584200" cy="584200"/>
          </a:xfrm>
          <a:prstGeom prst="rect">
            <a:avLst/>
          </a:prstGeom>
          <a:solidFill>
            <a:srgbClr val="242629"/>
          </a:solidFill>
          <a:ln w="10160">
            <a:solidFill>
              <a:srgbClr val="2C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226800" y="579628"/>
            <a:ext cx="584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5B64"/>
                </a:solidFill>
                <a:latin typeface="Meiryo UI"/>
              </a:rPr>
              <a:t>LOGO
差し替え枠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81000" y="1130300"/>
            <a:ext cx="11430000" cy="0"/>
          </a:xfrm>
          <a:prstGeom prst="line">
            <a:avLst/>
          </a:prstGeom>
          <a:ln w="10160">
            <a:solidFill>
              <a:srgbClr val="2C2E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381000" y="1308100"/>
            <a:ext cx="5537200" cy="2082800"/>
          </a:xfrm>
          <a:prstGeom prst="rect">
            <a:avLst/>
          </a:prstGeom>
          <a:solidFill>
            <a:srgbClr val="191B1D"/>
          </a:solidFill>
          <a:ln w="10160">
            <a:solidFill>
              <a:srgbClr val="2C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3400" y="1447800"/>
            <a:ext cx="11430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0ADFE"/>
                </a:solidFill>
                <a:latin typeface="Meiryo UI"/>
              </a:rPr>
              <a:t>企業間関係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92700" y="1447800"/>
            <a:ext cx="63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27479"/>
                </a:solidFill>
                <a:latin typeface="Meiryo UI"/>
              </a:rPr>
              <a:t>依存・影響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3400" y="1676400"/>
            <a:ext cx="762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>
                <a:solidFill>
                  <a:srgbClr val="C39DFF"/>
                </a:solidFill>
                <a:latin typeface="Meiryo UI"/>
              </a:rPr>
              <a:t>■ 資本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46200" y="1676400"/>
            <a:ext cx="762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>
                <a:solidFill>
                  <a:srgbClr val="70ADFE"/>
                </a:solidFill>
                <a:latin typeface="Meiryo UI"/>
              </a:rPr>
              <a:t>■ 技術依存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59000" y="1676400"/>
            <a:ext cx="762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>
                <a:solidFill>
                  <a:srgbClr val="FF7264"/>
                </a:solidFill>
                <a:latin typeface="Meiryo UI"/>
              </a:rPr>
              <a:t>■ 競合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71800" y="1676400"/>
            <a:ext cx="762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>
                <a:solidFill>
                  <a:srgbClr val="66DC9E"/>
                </a:solidFill>
                <a:latin typeface="Meiryo UI"/>
              </a:rPr>
              <a:t>■ 標準化協調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3400" y="1917700"/>
            <a:ext cx="5232400" cy="342900"/>
          </a:xfrm>
          <a:prstGeom prst="rect">
            <a:avLst/>
          </a:prstGeom>
          <a:solidFill>
            <a:srgbClr val="242629"/>
          </a:solidFill>
          <a:ln w="10160">
            <a:solidFill>
              <a:srgbClr val="212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7700" y="1993899"/>
            <a:ext cx="10287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EEFF1"/>
                </a:solidFill>
                <a:latin typeface="Meiryo UI"/>
              </a:rPr>
              <a:t>Claude Opus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52600" y="1993899"/>
            <a:ext cx="6985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0ADFE"/>
                </a:solidFill>
                <a:latin typeface="Meiryo UI"/>
              </a:rPr>
              <a:t>→ 技術依存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527300" y="1981199"/>
            <a:ext cx="9271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0ADFE"/>
                </a:solidFill>
                <a:latin typeface="Meiryo UI"/>
              </a:rPr>
              <a:t>AWS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43300" y="1981199"/>
            <a:ext cx="2070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40" b="0">
                <a:solidFill>
                  <a:srgbClr val="AAACB1"/>
                </a:solidFill>
                <a:latin typeface="Meiryo UI"/>
              </a:rPr>
              <a:t>計算資源（Trainium / Inferentia）で依存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33400" y="2374900"/>
            <a:ext cx="5232400" cy="342900"/>
          </a:xfrm>
          <a:prstGeom prst="rect">
            <a:avLst/>
          </a:prstGeom>
          <a:solidFill>
            <a:srgbClr val="242629"/>
          </a:solidFill>
          <a:ln w="10160">
            <a:solidFill>
              <a:srgbClr val="212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7700" y="2451100"/>
            <a:ext cx="10287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EEFF1"/>
                </a:solidFill>
                <a:latin typeface="Meiryo UI"/>
              </a:rPr>
              <a:t>Claude Opus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752600" y="2451100"/>
            <a:ext cx="6985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0ADFE"/>
                </a:solidFill>
                <a:latin typeface="Meiryo UI"/>
              </a:rPr>
              <a:t>→ 技術依存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27300" y="2438400"/>
            <a:ext cx="9271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0ADFE"/>
                </a:solidFill>
                <a:latin typeface="Meiryo UI"/>
              </a:rPr>
              <a:t>Google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43300" y="2438400"/>
            <a:ext cx="2070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40" b="0">
                <a:solidFill>
                  <a:srgbClr val="AAACB1"/>
                </a:solidFill>
                <a:latin typeface="Meiryo UI"/>
              </a:rPr>
              <a:t>計算資源（Google Cloud TPU）で依存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096000" y="1308100"/>
            <a:ext cx="5715000" cy="2082800"/>
          </a:xfrm>
          <a:prstGeom prst="rect">
            <a:avLst/>
          </a:prstGeom>
          <a:solidFill>
            <a:srgbClr val="191B1D"/>
          </a:solidFill>
          <a:ln w="10160">
            <a:solidFill>
              <a:srgbClr val="2C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48400" y="1447800"/>
            <a:ext cx="11430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5C25F"/>
                </a:solidFill>
                <a:latin typeface="Meiryo UI"/>
              </a:rPr>
              <a:t>将来シナリオ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303000" y="1447800"/>
            <a:ext cx="3175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27479"/>
                </a:solidFill>
                <a:latin typeface="Meiryo UI"/>
              </a:rPr>
              <a:t>推測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248400" y="1739900"/>
            <a:ext cx="2647950" cy="1524000"/>
          </a:xfrm>
          <a:prstGeom prst="rect">
            <a:avLst/>
          </a:prstGeom>
          <a:solidFill>
            <a:srgbClr val="242629"/>
          </a:solidFill>
          <a:ln w="10160">
            <a:solidFill>
              <a:srgbClr val="212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37300" y="1854200"/>
            <a:ext cx="2286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5C25F"/>
                </a:solidFill>
                <a:latin typeface="Meiryo UI"/>
              </a:rPr>
              <a:t>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16700" y="1841500"/>
            <a:ext cx="2152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EEEFF1"/>
                </a:solidFill>
                <a:latin typeface="HGP明朝E"/>
              </a:rPr>
              <a:t>さらなる長文脈・低遅延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16700" y="2070100"/>
            <a:ext cx="215265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ACB1"/>
                </a:solidFill>
                <a:latin typeface="Meiryo UI"/>
              </a:rPr>
              <a:t>コンテキスト拡大と推論コスト低下が続く見込み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62700" y="2527300"/>
            <a:ext cx="241300" cy="10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F5C25F"/>
                </a:solidFill>
                <a:latin typeface="Meiryo UI"/>
              </a:rPr>
              <a:t>根拠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16700" y="2501900"/>
            <a:ext cx="215265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AAACB1"/>
                </a:solidFill>
                <a:latin typeface="Meiryo UI"/>
              </a:rPr>
              <a:t>コンテキストは 200K→1M→2M（Gemini）と拡大し、Opus 4.8 は 1M を標準価格で提供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62700" y="2946400"/>
            <a:ext cx="241300" cy="10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F5C25F"/>
                </a:solidFill>
                <a:latin typeface="Meiryo UI"/>
              </a:rPr>
              <a:t>定量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16700" y="2921000"/>
            <a:ext cx="21526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AAACB1"/>
                </a:solidFill>
                <a:latin typeface="Meiryo UI"/>
              </a:rPr>
              <a:t>生成AI市場は2030年に約 $136.7B（2024年 $20.9B から CAGR 36.7%）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10650" y="1739900"/>
            <a:ext cx="2647950" cy="1524000"/>
          </a:xfrm>
          <a:prstGeom prst="rect">
            <a:avLst/>
          </a:prstGeom>
          <a:solidFill>
            <a:srgbClr val="242629"/>
          </a:solidFill>
          <a:ln w="10160">
            <a:solidFill>
              <a:srgbClr val="212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099550" y="1854200"/>
            <a:ext cx="2286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5C25F"/>
                </a:solidFill>
                <a:latin typeface="Meiryo UI"/>
              </a:rPr>
              <a:t>中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378950" y="1841500"/>
            <a:ext cx="2152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EEEFF1"/>
                </a:solidFill>
                <a:latin typeface="HGP明朝E"/>
              </a:rPr>
              <a:t>エージェント用途の標準化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378950" y="2070100"/>
            <a:ext cx="215265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ACB1"/>
                </a:solidFill>
                <a:latin typeface="Meiryo UI"/>
              </a:rPr>
              <a:t>ツール実行・MCP 連携が既定のワークフローに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24950" y="2527300"/>
            <a:ext cx="241300" cy="10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F5C25F"/>
                </a:solidFill>
                <a:latin typeface="Meiryo UI"/>
              </a:rPr>
              <a:t>根拠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78950" y="2501900"/>
            <a:ext cx="215265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AAACB1"/>
                </a:solidFill>
                <a:latin typeface="Meiryo UI"/>
              </a:rPr>
              <a:t>MCP やツール実行が標準化し、Claude は MCP を標準対応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24950" y="2946400"/>
            <a:ext cx="241300" cy="10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F5C25F"/>
                </a:solidFill>
                <a:latin typeface="Meiryo UI"/>
              </a:rPr>
              <a:t>定量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378950" y="2921000"/>
            <a:ext cx="21526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AAACB1"/>
                </a:solidFill>
                <a:latin typeface="Meiryo UI"/>
              </a:rPr>
              <a:t>同市場は2024-2030 で CAGR 36.7% の高成長が予測される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81000" y="3606800"/>
            <a:ext cx="13970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0ADFE"/>
                </a:solidFill>
                <a:latin typeface="Meiryo UI"/>
              </a:rPr>
              <a:t>関連ニュース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651000" y="3606800"/>
            <a:ext cx="1143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27479"/>
                </a:solidFill>
                <a:latin typeface="Meiryo UI"/>
              </a:rPr>
              <a:t>直近 5 件 / 新しい順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81000" y="3886200"/>
            <a:ext cx="2095499" cy="2590800"/>
          </a:xfrm>
          <a:prstGeom prst="rect">
            <a:avLst/>
          </a:prstGeom>
          <a:solidFill>
            <a:srgbClr val="191B1D"/>
          </a:solidFill>
          <a:ln w="10160">
            <a:solidFill>
              <a:srgbClr val="2C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08000" y="4038600"/>
            <a:ext cx="406400" cy="406400"/>
          </a:xfrm>
          <a:prstGeom prst="rect">
            <a:avLst/>
          </a:prstGeom>
          <a:solidFill>
            <a:srgbClr val="242629"/>
          </a:solidFill>
          <a:ln w="10160">
            <a:solidFill>
              <a:srgbClr val="2C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08000" y="4044949"/>
            <a:ext cx="406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66DC9E"/>
                </a:solidFill>
                <a:latin typeface="Meiryo UI"/>
              </a:rPr>
              <a:t>85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08000" y="4241800"/>
            <a:ext cx="406400" cy="76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60" b="0">
                <a:solidFill>
                  <a:srgbClr val="727479"/>
                </a:solidFill>
                <a:latin typeface="Meiryo UI"/>
              </a:rPr>
              <a:t>SCORE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28700" y="4089400"/>
            <a:ext cx="5588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1">
                <a:solidFill>
                  <a:srgbClr val="AAACB1"/>
                </a:solidFill>
                <a:latin typeface="Meiryo UI"/>
              </a:rPr>
              <a:t>06.07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28700" y="4248150"/>
            <a:ext cx="6096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727479"/>
                </a:solidFill>
                <a:latin typeface="Meiryo UI"/>
              </a:rPr>
              <a:t>1日前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08000" y="4572000"/>
            <a:ext cx="13335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0">
                <a:solidFill>
                  <a:srgbClr val="66DC9E"/>
                </a:solidFill>
                <a:latin typeface="Meiryo UI"/>
              </a:rPr>
              <a:t>◆ モデル / LLM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08000" y="4762500"/>
            <a:ext cx="1828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380" b="1">
                <a:solidFill>
                  <a:srgbClr val="EEEFF1"/>
                </a:solidFill>
                <a:latin typeface="HGP明朝E"/>
              </a:rPr>
              <a:t>数学テストで難問を正確に解決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508000" y="5232400"/>
            <a:ext cx="1841500" cy="0"/>
          </a:xfrm>
          <a:prstGeom prst="line">
            <a:avLst/>
          </a:prstGeom>
          <a:ln w="10160">
            <a:solidFill>
              <a:srgbClr val="2C2E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520700" y="5403850"/>
            <a:ext cx="76200" cy="88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DC9E"/>
                </a:solidFill>
                <a:latin typeface="Meiryo UI"/>
              </a:rPr>
              <a:t>•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35000" y="5397500"/>
            <a:ext cx="16891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919" b="0">
                <a:solidFill>
                  <a:srgbClr val="AAACB1"/>
                </a:solidFill>
                <a:latin typeface="Meiryo UI"/>
              </a:rPr>
              <a:t>数学テストで難問を正確に解決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20700" y="5772150"/>
            <a:ext cx="76200" cy="88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DC9E"/>
                </a:solidFill>
                <a:latin typeface="Meiryo UI"/>
              </a:rPr>
              <a:t>•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35000" y="5765800"/>
            <a:ext cx="16891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919" b="0">
                <a:solidFill>
                  <a:srgbClr val="AAACB1"/>
                </a:solidFill>
                <a:latin typeface="Meiryo UI"/>
              </a:rPr>
              <a:t>コーディングテストではバグ修正能力と改善の安定性が向上…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08000" y="6261100"/>
            <a:ext cx="2159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727479"/>
                </a:solidFill>
                <a:latin typeface="Meiryo UI"/>
              </a:rPr>
              <a:t>T3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9300" y="6261100"/>
            <a:ext cx="15113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AAACB1"/>
                </a:solidFill>
                <a:latin typeface="Meiryo UI"/>
              </a:rPr>
              <a:t>Decrypt ↗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590800" y="3886200"/>
            <a:ext cx="2095499" cy="2590800"/>
          </a:xfrm>
          <a:prstGeom prst="rect">
            <a:avLst/>
          </a:prstGeom>
          <a:solidFill>
            <a:srgbClr val="191B1D"/>
          </a:solidFill>
          <a:ln w="10160">
            <a:solidFill>
              <a:srgbClr val="2C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717800" y="4038600"/>
            <a:ext cx="406400" cy="406400"/>
          </a:xfrm>
          <a:prstGeom prst="rect">
            <a:avLst/>
          </a:prstGeom>
          <a:solidFill>
            <a:srgbClr val="242629"/>
          </a:solidFill>
          <a:ln w="10160">
            <a:solidFill>
              <a:srgbClr val="2C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717800" y="4044949"/>
            <a:ext cx="406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66DC9E"/>
                </a:solidFill>
                <a:latin typeface="Meiryo UI"/>
              </a:rPr>
              <a:t>85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717800" y="4241800"/>
            <a:ext cx="406400" cy="76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60" b="0">
                <a:solidFill>
                  <a:srgbClr val="727479"/>
                </a:solidFill>
                <a:latin typeface="Meiryo UI"/>
              </a:rPr>
              <a:t>SCORE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238500" y="4089400"/>
            <a:ext cx="5588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1">
                <a:solidFill>
                  <a:srgbClr val="AAACB1"/>
                </a:solidFill>
                <a:latin typeface="Meiryo UI"/>
              </a:rPr>
              <a:t>06.06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238500" y="4248150"/>
            <a:ext cx="6096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727479"/>
                </a:solidFill>
                <a:latin typeface="Meiryo UI"/>
              </a:rPr>
              <a:t>2日前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717800" y="4572000"/>
            <a:ext cx="13335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0">
                <a:solidFill>
                  <a:srgbClr val="66DC9E"/>
                </a:solidFill>
                <a:latin typeface="Meiryo UI"/>
              </a:rPr>
              <a:t>◆ モデル / LLM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717800" y="4762500"/>
            <a:ext cx="1828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380" b="1">
                <a:solidFill>
                  <a:srgbClr val="EEEFF1"/>
                </a:solidFill>
                <a:latin typeface="HGP明朝E"/>
              </a:rPr>
              <a:t>6月5日にClaudeプラットフォームで広範なエラ…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2717800" y="5232400"/>
            <a:ext cx="1841500" cy="0"/>
          </a:xfrm>
          <a:prstGeom prst="line">
            <a:avLst/>
          </a:prstGeom>
          <a:ln w="10160">
            <a:solidFill>
              <a:srgbClr val="2C2E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2730500" y="5403850"/>
            <a:ext cx="76200" cy="88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DC9E"/>
                </a:solidFill>
                <a:latin typeface="Meiryo UI"/>
              </a:rPr>
              <a:t>•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844800" y="5397500"/>
            <a:ext cx="16891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919" b="0">
                <a:solidFill>
                  <a:srgbClr val="AAACB1"/>
                </a:solidFill>
                <a:latin typeface="Meiryo UI"/>
              </a:rPr>
              <a:t>6月5日にClaudeプラットフォームで広範なエラーが…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30500" y="5772150"/>
            <a:ext cx="76200" cy="88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DC9E"/>
                </a:solidFill>
                <a:latin typeface="Meiryo UI"/>
              </a:rPr>
              <a:t>•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44800" y="5765800"/>
            <a:ext cx="16891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919" b="0">
                <a:solidFill>
                  <a:srgbClr val="AAACB1"/>
                </a:solidFill>
                <a:latin typeface="Meiryo UI"/>
              </a:rPr>
              <a:t>障害はインフラ問題に起因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717800" y="6261100"/>
            <a:ext cx="2159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727479"/>
                </a:solidFill>
                <a:latin typeface="Meiryo UI"/>
              </a:rPr>
              <a:t>T3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959100" y="6261100"/>
            <a:ext cx="15113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AAACB1"/>
                </a:solidFill>
                <a:latin typeface="Meiryo UI"/>
              </a:rPr>
              <a:t>CybersecurityNews ↗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800600" y="3886200"/>
            <a:ext cx="2095499" cy="2590800"/>
          </a:xfrm>
          <a:prstGeom prst="rect">
            <a:avLst/>
          </a:prstGeom>
          <a:solidFill>
            <a:srgbClr val="191B1D"/>
          </a:solidFill>
          <a:ln w="10160">
            <a:solidFill>
              <a:srgbClr val="2C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927600" y="4038600"/>
            <a:ext cx="406400" cy="406400"/>
          </a:xfrm>
          <a:prstGeom prst="rect">
            <a:avLst/>
          </a:prstGeom>
          <a:solidFill>
            <a:srgbClr val="242629"/>
          </a:solidFill>
          <a:ln w="10160">
            <a:solidFill>
              <a:srgbClr val="2C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927600" y="4044949"/>
            <a:ext cx="406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70ADFE"/>
                </a:solidFill>
                <a:latin typeface="Meiryo UI"/>
              </a:rPr>
              <a:t>75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927600" y="4241800"/>
            <a:ext cx="406400" cy="76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60" b="0">
                <a:solidFill>
                  <a:srgbClr val="727479"/>
                </a:solidFill>
                <a:latin typeface="Meiryo UI"/>
              </a:rPr>
              <a:t>SCORE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448300" y="4089400"/>
            <a:ext cx="5588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1">
                <a:solidFill>
                  <a:srgbClr val="AAACB1"/>
                </a:solidFill>
                <a:latin typeface="Meiryo UI"/>
              </a:rPr>
              <a:t>06.05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448300" y="4248150"/>
            <a:ext cx="6096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727479"/>
                </a:solidFill>
                <a:latin typeface="Meiryo UI"/>
              </a:rPr>
              <a:t>3日前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927600" y="4572000"/>
            <a:ext cx="13335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0">
                <a:solidFill>
                  <a:srgbClr val="66DC9E"/>
                </a:solidFill>
                <a:latin typeface="Meiryo UI"/>
              </a:rPr>
              <a:t>◆ モデル / LLM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927600" y="4762500"/>
            <a:ext cx="1828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380" b="1">
                <a:solidFill>
                  <a:srgbClr val="EEEFF1"/>
                </a:solidFill>
                <a:latin typeface="HGP明朝E"/>
              </a:rPr>
              <a:t>Claude を化学者にする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4927600" y="5232400"/>
            <a:ext cx="1841500" cy="0"/>
          </a:xfrm>
          <a:prstGeom prst="line">
            <a:avLst/>
          </a:prstGeom>
          <a:ln w="10160">
            <a:solidFill>
              <a:srgbClr val="2C2E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4940300" y="5403850"/>
            <a:ext cx="76200" cy="88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0ADFE"/>
                </a:solidFill>
                <a:latin typeface="Meiryo UI"/>
              </a:rPr>
              <a:t>•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054600" y="5397500"/>
            <a:ext cx="16891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919" b="0">
                <a:solidFill>
                  <a:srgbClr val="AAACB1"/>
                </a:solidFill>
                <a:latin typeface="Meiryo UI"/>
              </a:rPr>
              <a:t>Claudeを化学分野で活用する実験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940300" y="5772150"/>
            <a:ext cx="76200" cy="88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0ADFE"/>
                </a:solidFill>
                <a:latin typeface="Meiryo UI"/>
              </a:rPr>
              <a:t>•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54600" y="5765800"/>
            <a:ext cx="16891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919" b="0">
                <a:solidFill>
                  <a:srgbClr val="AAACB1"/>
                </a:solidFill>
                <a:latin typeface="Meiryo UI"/>
              </a:rPr>
              <a:t>最初の成果として、ClaudeのNMRスペクトル解析能…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927600" y="6261100"/>
            <a:ext cx="2159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DC9E"/>
                </a:solidFill>
                <a:latin typeface="Meiryo UI"/>
              </a:rPr>
              <a:t>T1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168900" y="6261100"/>
            <a:ext cx="15113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AAACB1"/>
                </a:solidFill>
                <a:latin typeface="Meiryo UI"/>
              </a:rPr>
              <a:t>AnthropicAI ↗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010400" y="3886200"/>
            <a:ext cx="2095499" cy="2590800"/>
          </a:xfrm>
          <a:prstGeom prst="rect">
            <a:avLst/>
          </a:prstGeom>
          <a:solidFill>
            <a:srgbClr val="191B1D"/>
          </a:solidFill>
          <a:ln w="10160">
            <a:solidFill>
              <a:srgbClr val="2C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137400" y="4038600"/>
            <a:ext cx="406400" cy="406400"/>
          </a:xfrm>
          <a:prstGeom prst="rect">
            <a:avLst/>
          </a:prstGeom>
          <a:solidFill>
            <a:srgbClr val="242629"/>
          </a:solidFill>
          <a:ln w="10160">
            <a:solidFill>
              <a:srgbClr val="2C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137400" y="4044949"/>
            <a:ext cx="406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70ADFE"/>
                </a:solidFill>
                <a:latin typeface="Meiryo UI"/>
              </a:rPr>
              <a:t>75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137400" y="4241800"/>
            <a:ext cx="406400" cy="76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60" b="0">
                <a:solidFill>
                  <a:srgbClr val="727479"/>
                </a:solidFill>
                <a:latin typeface="Meiryo UI"/>
              </a:rPr>
              <a:t>SCORE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658100" y="4089400"/>
            <a:ext cx="5588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1">
                <a:solidFill>
                  <a:srgbClr val="AAACB1"/>
                </a:solidFill>
                <a:latin typeface="Meiryo UI"/>
              </a:rPr>
              <a:t>06.05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58100" y="4248150"/>
            <a:ext cx="6096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727479"/>
                </a:solidFill>
                <a:latin typeface="Meiryo UI"/>
              </a:rPr>
              <a:t>3日前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137400" y="4572000"/>
            <a:ext cx="13335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0">
                <a:solidFill>
                  <a:srgbClr val="66DC9E"/>
                </a:solidFill>
                <a:latin typeface="Meiryo UI"/>
              </a:rPr>
              <a:t>◆ モデル / LLM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137400" y="4762500"/>
            <a:ext cx="1828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380" b="1">
                <a:solidFill>
                  <a:srgbClr val="EEEFF1"/>
                </a:solidFill>
                <a:latin typeface="HGP明朝E"/>
              </a:rPr>
              <a:t>金曜午後に障害から復旧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7137400" y="5232400"/>
            <a:ext cx="1841500" cy="0"/>
          </a:xfrm>
          <a:prstGeom prst="line">
            <a:avLst/>
          </a:prstGeom>
          <a:ln w="10160">
            <a:solidFill>
              <a:srgbClr val="2C2E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7150100" y="5403850"/>
            <a:ext cx="76200" cy="88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0ADFE"/>
                </a:solidFill>
                <a:latin typeface="Meiryo UI"/>
              </a:rPr>
              <a:t>•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264400" y="5397500"/>
            <a:ext cx="16891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919" b="0">
                <a:solidFill>
                  <a:srgbClr val="AAACB1"/>
                </a:solidFill>
                <a:latin typeface="Meiryo UI"/>
              </a:rPr>
              <a:t>金曜午後に障害から復旧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150100" y="5772150"/>
            <a:ext cx="76200" cy="88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0ADFE"/>
                </a:solidFill>
                <a:latin typeface="Meiryo UI"/>
              </a:rPr>
              <a:t>•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264400" y="5765800"/>
            <a:ext cx="16891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919" b="0">
                <a:solidFill>
                  <a:srgbClr val="AAACB1"/>
                </a:solidFill>
                <a:latin typeface="Meiryo UI"/>
              </a:rPr>
              <a:t>障害はOpus 4.7および4.8モデルのエラー率上昇…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137400" y="6261100"/>
            <a:ext cx="2159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727479"/>
                </a:solidFill>
                <a:latin typeface="Meiryo UI"/>
              </a:rPr>
              <a:t>T3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378700" y="6261100"/>
            <a:ext cx="15113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AAACB1"/>
                </a:solidFill>
                <a:latin typeface="Meiryo UI"/>
              </a:rPr>
              <a:t>Cybernews ↗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220200" y="3886200"/>
            <a:ext cx="2095499" cy="2590800"/>
          </a:xfrm>
          <a:prstGeom prst="rect">
            <a:avLst/>
          </a:prstGeom>
          <a:solidFill>
            <a:srgbClr val="191B1D"/>
          </a:solidFill>
          <a:ln w="10160">
            <a:solidFill>
              <a:srgbClr val="2C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347200" y="4038600"/>
            <a:ext cx="406400" cy="406400"/>
          </a:xfrm>
          <a:prstGeom prst="rect">
            <a:avLst/>
          </a:prstGeom>
          <a:solidFill>
            <a:srgbClr val="242629"/>
          </a:solidFill>
          <a:ln w="10160">
            <a:solidFill>
              <a:srgbClr val="2C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347200" y="4044949"/>
            <a:ext cx="406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66DC9E"/>
                </a:solidFill>
                <a:latin typeface="Meiryo UI"/>
              </a:rPr>
              <a:t>85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347200" y="4241800"/>
            <a:ext cx="406400" cy="76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60" b="0">
                <a:solidFill>
                  <a:srgbClr val="727479"/>
                </a:solidFill>
                <a:latin typeface="Meiryo UI"/>
              </a:rPr>
              <a:t>SCORE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9867900" y="4089400"/>
            <a:ext cx="5588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1">
                <a:solidFill>
                  <a:srgbClr val="AAACB1"/>
                </a:solidFill>
                <a:latin typeface="Meiryo UI"/>
              </a:rPr>
              <a:t>06.05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867900" y="4248150"/>
            <a:ext cx="6096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727479"/>
                </a:solidFill>
                <a:latin typeface="Meiryo UI"/>
              </a:rPr>
              <a:t>3日前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347200" y="4572000"/>
            <a:ext cx="13335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0">
                <a:solidFill>
                  <a:srgbClr val="66DC9E"/>
                </a:solidFill>
                <a:latin typeface="Meiryo UI"/>
              </a:rPr>
              <a:t>◆ モデル / LLM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347200" y="4762500"/>
            <a:ext cx="1828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380" b="1">
                <a:solidFill>
                  <a:srgbClr val="EEEFF1"/>
                </a:solidFill>
                <a:latin typeface="HGP明朝E"/>
              </a:rPr>
              <a:t>ZcashのOrchardプールで偽造脆弱性が発見…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9347200" y="5232400"/>
            <a:ext cx="1841500" cy="0"/>
          </a:xfrm>
          <a:prstGeom prst="line">
            <a:avLst/>
          </a:prstGeom>
          <a:ln w="10160">
            <a:solidFill>
              <a:srgbClr val="2C2E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9359900" y="5403850"/>
            <a:ext cx="76200" cy="88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DC9E"/>
                </a:solidFill>
                <a:latin typeface="Meiryo UI"/>
              </a:rPr>
              <a:t>•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474200" y="5397500"/>
            <a:ext cx="16891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919" b="0">
                <a:solidFill>
                  <a:srgbClr val="AAACB1"/>
                </a:solidFill>
                <a:latin typeface="Meiryo UI"/>
              </a:rPr>
              <a:t>ZcashのOrchardプールで偽造脆弱性が発見された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359900" y="5772150"/>
            <a:ext cx="76200" cy="88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DC9E"/>
                </a:solidFill>
                <a:latin typeface="Meiryo UI"/>
              </a:rPr>
              <a:t>•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474200" y="5765800"/>
            <a:ext cx="16891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919" b="0">
                <a:solidFill>
                  <a:srgbClr val="AAACB1"/>
                </a:solidFill>
                <a:latin typeface="Meiryo UI"/>
              </a:rPr>
              <a:t>脆弱性はClaude Opus 4.8で発見され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9347200" y="6261100"/>
            <a:ext cx="2159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727479"/>
                </a:solidFill>
                <a:latin typeface="Meiryo UI"/>
              </a:rPr>
              <a:t>T3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9588500" y="6261100"/>
            <a:ext cx="15113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AAACB1"/>
                </a:solidFill>
                <a:latin typeface="Meiryo UI"/>
              </a:rPr>
              <a:t>Yahoo Finance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